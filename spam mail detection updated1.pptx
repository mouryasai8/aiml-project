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83" r:id="rId3"/>
    <p:sldId id="296" r:id="rId4"/>
    <p:sldId id="295" r:id="rId5"/>
    <p:sldId id="257" r:id="rId6"/>
    <p:sldId id="297" r:id="rId7"/>
    <p:sldId id="289" r:id="rId8"/>
    <p:sldId id="298" r:id="rId9"/>
    <p:sldId id="287" r:id="rId10"/>
    <p:sldId id="285" r:id="rId11"/>
    <p:sldId id="299" r:id="rId12"/>
    <p:sldId id="300" r:id="rId13"/>
    <p:sldId id="302" r:id="rId14"/>
    <p:sldId id="278" r:id="rId15"/>
  </p:sldIdLst>
  <p:sldSz cx="9144000" cy="5143500" type="screen16x9"/>
  <p:notesSz cx="6858000" cy="9144000"/>
  <p:embeddedFontLst>
    <p:embeddedFont>
      <p:font typeface="Baskerville Old Face" panose="02020602080505020303" pitchFamily="18" charset="0"/>
      <p:regular r:id="rId17"/>
    </p:embeddedFont>
    <p:embeddedFont>
      <p:font typeface="Bell MT" panose="02020503060305020303" pitchFamily="18" charset="0"/>
      <p:regular r:id="rId18"/>
      <p:bold r:id="rId19"/>
      <p:italic r:id="rId20"/>
    </p:embeddedFont>
    <p:embeddedFont>
      <p:font typeface="Berlin Sans FB" panose="020E0602020502020306" pitchFamily="34" charset="0"/>
      <p:regular r:id="rId21"/>
      <p:bold r:id="rId22"/>
    </p:embeddedFont>
    <p:embeddedFont>
      <p:font typeface="Cambria Math" panose="02040503050406030204" pitchFamily="18" charset="0"/>
      <p:regular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 Light" panose="000004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F8F934-74F0-4B6C-A4E4-D226B9E60B39}">
  <a:tblStyle styleId="{83F8F934-74F0-4B6C-A4E4-D226B9E60B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54C663-97FA-4BFD-8B26-423B903A032A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85249D-A52B-4652-BEAE-B8A046E2BB92}">
      <dgm:prSet/>
      <dgm:spPr/>
      <dgm:t>
        <a:bodyPr/>
        <a:lstStyle/>
        <a:p>
          <a:r>
            <a:rPr lang="en-US" dirty="0"/>
            <a:t>Naïve Bayesian method is used for the learning process. Analyze a mail to calculate its probability of being a Spam using individual characteristic of words in the mail. </a:t>
          </a:r>
        </a:p>
      </dgm:t>
    </dgm:pt>
    <dgm:pt modelId="{D55D4925-9ECB-4EA8-8186-7F4084C7E96B}" type="parTrans" cxnId="{0F26BAD1-CA91-4D9D-8E58-005C6FD0FB2B}">
      <dgm:prSet/>
      <dgm:spPr/>
      <dgm:t>
        <a:bodyPr/>
        <a:lstStyle/>
        <a:p>
          <a:endParaRPr lang="en-US"/>
        </a:p>
      </dgm:t>
    </dgm:pt>
    <dgm:pt modelId="{76AFD7BA-D31D-4C86-9967-DD23FA110AC4}" type="sibTrans" cxnId="{0F26BAD1-CA91-4D9D-8E58-005C6FD0FB2B}">
      <dgm:prSet/>
      <dgm:spPr/>
      <dgm:t>
        <a:bodyPr/>
        <a:lstStyle/>
        <a:p>
          <a:endParaRPr lang="en-US"/>
        </a:p>
      </dgm:t>
    </dgm:pt>
    <dgm:pt modelId="{A1450F21-7189-45FE-ADE2-4DE22003D976}">
      <dgm:prSet/>
      <dgm:spPr/>
      <dgm:t>
        <a:bodyPr/>
        <a:lstStyle/>
        <a:p>
          <a:r>
            <a:rPr lang="en-US"/>
            <a:t>For each word in the mail, Calculate the following:</a:t>
          </a:r>
        </a:p>
      </dgm:t>
    </dgm:pt>
    <dgm:pt modelId="{F7A95537-3857-421F-9B42-8A7314D67730}" type="parTrans" cxnId="{637E7B9B-11A3-4DB4-A26B-8DB57119B395}">
      <dgm:prSet/>
      <dgm:spPr/>
      <dgm:t>
        <a:bodyPr/>
        <a:lstStyle/>
        <a:p>
          <a:endParaRPr lang="en-US"/>
        </a:p>
      </dgm:t>
    </dgm:pt>
    <dgm:pt modelId="{90B222A6-A6EB-40EE-8A0D-22E8C280B9AD}" type="sibTrans" cxnId="{637E7B9B-11A3-4DB4-A26B-8DB57119B395}">
      <dgm:prSet/>
      <dgm:spPr/>
      <dgm:t>
        <a:bodyPr/>
        <a:lstStyle/>
        <a:p>
          <a:endParaRPr lang="en-US"/>
        </a:p>
      </dgm:t>
    </dgm:pt>
    <dgm:pt modelId="{CFA76BF0-9498-4F9C-BBE6-EC9EC758F316}">
      <dgm:prSet/>
      <dgm:spPr/>
      <dgm:t>
        <a:bodyPr/>
        <a:lstStyle/>
        <a:p>
          <a:r>
            <a:rPr lang="en-US"/>
            <a:t>S(w)=(number of Spam emails containing the word)/(total 	number of Spam emails)</a:t>
          </a:r>
        </a:p>
      </dgm:t>
    </dgm:pt>
    <dgm:pt modelId="{A2E96310-D9D2-4FBA-A879-D80459E67D02}" type="parTrans" cxnId="{B4EE763B-CB90-4A9C-9ADE-40D470825E7A}">
      <dgm:prSet/>
      <dgm:spPr/>
      <dgm:t>
        <a:bodyPr/>
        <a:lstStyle/>
        <a:p>
          <a:endParaRPr lang="en-US"/>
        </a:p>
      </dgm:t>
    </dgm:pt>
    <dgm:pt modelId="{CCE0D8F1-4E2F-4CFA-9B4F-66832B29C0E2}" type="sibTrans" cxnId="{B4EE763B-CB90-4A9C-9ADE-40D470825E7A}">
      <dgm:prSet/>
      <dgm:spPr/>
      <dgm:t>
        <a:bodyPr/>
        <a:lstStyle/>
        <a:p>
          <a:endParaRPr lang="en-US"/>
        </a:p>
      </dgm:t>
    </dgm:pt>
    <dgm:pt modelId="{F9E9B84C-477A-4C21-9B3C-94E0F8C46DD0}">
      <dgm:prSet/>
      <dgm:spPr/>
      <dgm:t>
        <a:bodyPr/>
        <a:lstStyle/>
        <a:p>
          <a:r>
            <a:rPr lang="en-US"/>
            <a:t>H(w)=(number of Ham emails containing the word)/(total 	number of Ham emails)</a:t>
          </a:r>
        </a:p>
      </dgm:t>
    </dgm:pt>
    <dgm:pt modelId="{C361854C-F9DF-45FE-936A-7DA976AAD8EB}" type="parTrans" cxnId="{A2B34B70-35A0-4863-BF3E-6C466E323C09}">
      <dgm:prSet/>
      <dgm:spPr/>
      <dgm:t>
        <a:bodyPr/>
        <a:lstStyle/>
        <a:p>
          <a:endParaRPr lang="en-US"/>
        </a:p>
      </dgm:t>
    </dgm:pt>
    <dgm:pt modelId="{91AA6E8B-E15C-436C-A5F4-D24E2394D63E}" type="sibTrans" cxnId="{A2B34B70-35A0-4863-BF3E-6C466E323C09}">
      <dgm:prSet/>
      <dgm:spPr/>
      <dgm:t>
        <a:bodyPr/>
        <a:lstStyle/>
        <a:p>
          <a:endParaRPr lang="en-US"/>
        </a:p>
      </dgm:t>
    </dgm:pt>
    <dgm:pt modelId="{1918B3CD-8496-4A4B-A603-061D23B27357}">
      <dgm:prSet/>
      <dgm:spPr/>
      <dgm:t>
        <a:bodyPr/>
        <a:lstStyle/>
        <a:p>
          <a:r>
            <a:rPr lang="en-US"/>
            <a:t>P(w)=S(w)/(S(w)+H(w))</a:t>
          </a:r>
        </a:p>
      </dgm:t>
    </dgm:pt>
    <dgm:pt modelId="{C7DC577B-F0B1-48BB-AF71-0B6096D5E6F8}" type="parTrans" cxnId="{705F277A-C181-4173-9E72-99FD67466825}">
      <dgm:prSet/>
      <dgm:spPr/>
      <dgm:t>
        <a:bodyPr/>
        <a:lstStyle/>
        <a:p>
          <a:endParaRPr lang="en-US"/>
        </a:p>
      </dgm:t>
    </dgm:pt>
    <dgm:pt modelId="{C88C0502-10D9-41B4-BC6E-C77913159FAC}" type="sibTrans" cxnId="{705F277A-C181-4173-9E72-99FD67466825}">
      <dgm:prSet/>
      <dgm:spPr/>
      <dgm:t>
        <a:bodyPr/>
        <a:lstStyle/>
        <a:p>
          <a:endParaRPr lang="en-US"/>
        </a:p>
      </dgm:t>
    </dgm:pt>
    <dgm:pt modelId="{03618843-33C6-46AA-A946-3A6608AF0E0B}">
      <dgm:prSet/>
      <dgm:spPr/>
      <dgm:t>
        <a:bodyPr/>
        <a:lstStyle/>
        <a:p>
          <a:r>
            <a:rPr lang="en-US"/>
            <a:t>P(w) can be interpreted as the probability that a randomly chosen email containing the word w is Spam. </a:t>
          </a:r>
        </a:p>
      </dgm:t>
    </dgm:pt>
    <dgm:pt modelId="{72938D86-7249-4297-AEE3-12ADA3F38E9D}" type="parTrans" cxnId="{F11FAAB5-E06B-495B-AB78-500609965FE8}">
      <dgm:prSet/>
      <dgm:spPr/>
      <dgm:t>
        <a:bodyPr/>
        <a:lstStyle/>
        <a:p>
          <a:endParaRPr lang="en-US"/>
        </a:p>
      </dgm:t>
    </dgm:pt>
    <dgm:pt modelId="{2A6BBF47-4B17-42EF-B2F7-7731F3C44EC8}" type="sibTrans" cxnId="{F11FAAB5-E06B-495B-AB78-500609965FE8}">
      <dgm:prSet/>
      <dgm:spPr/>
      <dgm:t>
        <a:bodyPr/>
        <a:lstStyle/>
        <a:p>
          <a:endParaRPr lang="en-US"/>
        </a:p>
      </dgm:t>
    </dgm:pt>
    <dgm:pt modelId="{2D1B3E5B-7FCF-41B3-91CF-54387F513F95}" type="pres">
      <dgm:prSet presAssocID="{EB54C663-97FA-4BFD-8B26-423B903A032A}" presName="Name0" presStyleCnt="0">
        <dgm:presLayoutVars>
          <dgm:dir/>
          <dgm:animLvl val="lvl"/>
          <dgm:resizeHandles val="exact"/>
        </dgm:presLayoutVars>
      </dgm:prSet>
      <dgm:spPr/>
    </dgm:pt>
    <dgm:pt modelId="{AD3572D9-1A1A-4F2A-8AE1-681508E02FF1}" type="pres">
      <dgm:prSet presAssocID="{03618843-33C6-46AA-A946-3A6608AF0E0B}" presName="boxAndChildren" presStyleCnt="0"/>
      <dgm:spPr/>
    </dgm:pt>
    <dgm:pt modelId="{F23481AE-7B52-4708-A14E-FE3EAD2F7A37}" type="pres">
      <dgm:prSet presAssocID="{03618843-33C6-46AA-A946-3A6608AF0E0B}" presName="parentTextBox" presStyleLbl="node1" presStyleIdx="0" presStyleCnt="3" custLinFactNeighborX="0" custLinFactNeighborY="2945"/>
      <dgm:spPr/>
    </dgm:pt>
    <dgm:pt modelId="{3341F46E-2A84-4926-99D7-36DF35CF03FF}" type="pres">
      <dgm:prSet presAssocID="{90B222A6-A6EB-40EE-8A0D-22E8C280B9AD}" presName="sp" presStyleCnt="0"/>
      <dgm:spPr/>
    </dgm:pt>
    <dgm:pt modelId="{D1EFCADA-3CAA-4C2F-937E-7BBF75D2C938}" type="pres">
      <dgm:prSet presAssocID="{A1450F21-7189-45FE-ADE2-4DE22003D976}" presName="arrowAndChildren" presStyleCnt="0"/>
      <dgm:spPr/>
    </dgm:pt>
    <dgm:pt modelId="{423CB15E-E461-4319-B9B8-AD359E68457E}" type="pres">
      <dgm:prSet presAssocID="{A1450F21-7189-45FE-ADE2-4DE22003D976}" presName="parentTextArrow" presStyleLbl="node1" presStyleIdx="0" presStyleCnt="3"/>
      <dgm:spPr/>
    </dgm:pt>
    <dgm:pt modelId="{8163698C-B954-40F8-BDC4-E49602DD8B79}" type="pres">
      <dgm:prSet presAssocID="{A1450F21-7189-45FE-ADE2-4DE22003D976}" presName="arrow" presStyleLbl="node1" presStyleIdx="1" presStyleCnt="3"/>
      <dgm:spPr/>
    </dgm:pt>
    <dgm:pt modelId="{A10BBFC5-DC58-41B0-A8D9-BF57F5F6AB29}" type="pres">
      <dgm:prSet presAssocID="{A1450F21-7189-45FE-ADE2-4DE22003D976}" presName="descendantArrow" presStyleCnt="0"/>
      <dgm:spPr/>
    </dgm:pt>
    <dgm:pt modelId="{DB6DFF44-A301-4D63-B38C-44E406A78781}" type="pres">
      <dgm:prSet presAssocID="{CFA76BF0-9498-4F9C-BBE6-EC9EC758F316}" presName="childTextArrow" presStyleLbl="fgAccFollowNode1" presStyleIdx="0" presStyleCnt="3">
        <dgm:presLayoutVars>
          <dgm:bulletEnabled val="1"/>
        </dgm:presLayoutVars>
      </dgm:prSet>
      <dgm:spPr/>
    </dgm:pt>
    <dgm:pt modelId="{B411CFCD-CD9C-4AC1-8CAA-CBDF09034142}" type="pres">
      <dgm:prSet presAssocID="{F9E9B84C-477A-4C21-9B3C-94E0F8C46DD0}" presName="childTextArrow" presStyleLbl="fgAccFollowNode1" presStyleIdx="1" presStyleCnt="3">
        <dgm:presLayoutVars>
          <dgm:bulletEnabled val="1"/>
        </dgm:presLayoutVars>
      </dgm:prSet>
      <dgm:spPr/>
    </dgm:pt>
    <dgm:pt modelId="{2FEDE4C6-DE9F-4347-A720-06AEC0B0361F}" type="pres">
      <dgm:prSet presAssocID="{1918B3CD-8496-4A4B-A603-061D23B27357}" presName="childTextArrow" presStyleLbl="fgAccFollowNode1" presStyleIdx="2" presStyleCnt="3">
        <dgm:presLayoutVars>
          <dgm:bulletEnabled val="1"/>
        </dgm:presLayoutVars>
      </dgm:prSet>
      <dgm:spPr/>
    </dgm:pt>
    <dgm:pt modelId="{EDDB440C-1D67-4D38-8017-6820D69B35A7}" type="pres">
      <dgm:prSet presAssocID="{76AFD7BA-D31D-4C86-9967-DD23FA110AC4}" presName="sp" presStyleCnt="0"/>
      <dgm:spPr/>
    </dgm:pt>
    <dgm:pt modelId="{C2A11319-24D1-460E-B90C-7E120B6BEDEB}" type="pres">
      <dgm:prSet presAssocID="{F885249D-A52B-4652-BEAE-B8A046E2BB92}" presName="arrowAndChildren" presStyleCnt="0"/>
      <dgm:spPr/>
    </dgm:pt>
    <dgm:pt modelId="{0977E510-C5EC-4AB2-91D5-F57BEF9062DD}" type="pres">
      <dgm:prSet presAssocID="{F885249D-A52B-4652-BEAE-B8A046E2BB92}" presName="parentTextArrow" presStyleLbl="node1" presStyleIdx="2" presStyleCnt="3" custLinFactNeighborX="-12" custLinFactNeighborY="-1961"/>
      <dgm:spPr/>
    </dgm:pt>
  </dgm:ptLst>
  <dgm:cxnLst>
    <dgm:cxn modelId="{B4EE763B-CB90-4A9C-9ADE-40D470825E7A}" srcId="{A1450F21-7189-45FE-ADE2-4DE22003D976}" destId="{CFA76BF0-9498-4F9C-BBE6-EC9EC758F316}" srcOrd="0" destOrd="0" parTransId="{A2E96310-D9D2-4FBA-A879-D80459E67D02}" sibTransId="{CCE0D8F1-4E2F-4CFA-9B4F-66832B29C0E2}"/>
    <dgm:cxn modelId="{8F898362-7F97-444E-8077-DCEFCDA15C69}" type="presOf" srcId="{1918B3CD-8496-4A4B-A603-061D23B27357}" destId="{2FEDE4C6-DE9F-4347-A720-06AEC0B0361F}" srcOrd="0" destOrd="0" presId="urn:microsoft.com/office/officeart/2005/8/layout/process4"/>
    <dgm:cxn modelId="{F57CDA4A-1CE9-418F-95FF-80771FCEC5CD}" type="presOf" srcId="{EB54C663-97FA-4BFD-8B26-423B903A032A}" destId="{2D1B3E5B-7FCF-41B3-91CF-54387F513F95}" srcOrd="0" destOrd="0" presId="urn:microsoft.com/office/officeart/2005/8/layout/process4"/>
    <dgm:cxn modelId="{BBA3F84E-77C6-41AE-83AD-E8D042ADC7E9}" type="presOf" srcId="{F885249D-A52B-4652-BEAE-B8A046E2BB92}" destId="{0977E510-C5EC-4AB2-91D5-F57BEF9062DD}" srcOrd="0" destOrd="0" presId="urn:microsoft.com/office/officeart/2005/8/layout/process4"/>
    <dgm:cxn modelId="{A2B34B70-35A0-4863-BF3E-6C466E323C09}" srcId="{A1450F21-7189-45FE-ADE2-4DE22003D976}" destId="{F9E9B84C-477A-4C21-9B3C-94E0F8C46DD0}" srcOrd="1" destOrd="0" parTransId="{C361854C-F9DF-45FE-936A-7DA976AAD8EB}" sibTransId="{91AA6E8B-E15C-436C-A5F4-D24E2394D63E}"/>
    <dgm:cxn modelId="{705F277A-C181-4173-9E72-99FD67466825}" srcId="{A1450F21-7189-45FE-ADE2-4DE22003D976}" destId="{1918B3CD-8496-4A4B-A603-061D23B27357}" srcOrd="2" destOrd="0" parTransId="{C7DC577B-F0B1-48BB-AF71-0B6096D5E6F8}" sibTransId="{C88C0502-10D9-41B4-BC6E-C77913159FAC}"/>
    <dgm:cxn modelId="{D2DDA67D-ED94-49D9-87AD-0DED1C860543}" type="presOf" srcId="{CFA76BF0-9498-4F9C-BBE6-EC9EC758F316}" destId="{DB6DFF44-A301-4D63-B38C-44E406A78781}" srcOrd="0" destOrd="0" presId="urn:microsoft.com/office/officeart/2005/8/layout/process4"/>
    <dgm:cxn modelId="{0D510193-6214-4521-B7D8-B89A8AB77D85}" type="presOf" srcId="{A1450F21-7189-45FE-ADE2-4DE22003D976}" destId="{8163698C-B954-40F8-BDC4-E49602DD8B79}" srcOrd="1" destOrd="0" presId="urn:microsoft.com/office/officeart/2005/8/layout/process4"/>
    <dgm:cxn modelId="{637E7B9B-11A3-4DB4-A26B-8DB57119B395}" srcId="{EB54C663-97FA-4BFD-8B26-423B903A032A}" destId="{A1450F21-7189-45FE-ADE2-4DE22003D976}" srcOrd="1" destOrd="0" parTransId="{F7A95537-3857-421F-9B42-8A7314D67730}" sibTransId="{90B222A6-A6EB-40EE-8A0D-22E8C280B9AD}"/>
    <dgm:cxn modelId="{488164B1-412F-4BF7-9B06-BDABE05E6CBF}" type="presOf" srcId="{03618843-33C6-46AA-A946-3A6608AF0E0B}" destId="{F23481AE-7B52-4708-A14E-FE3EAD2F7A37}" srcOrd="0" destOrd="0" presId="urn:microsoft.com/office/officeart/2005/8/layout/process4"/>
    <dgm:cxn modelId="{F11FAAB5-E06B-495B-AB78-500609965FE8}" srcId="{EB54C663-97FA-4BFD-8B26-423B903A032A}" destId="{03618843-33C6-46AA-A946-3A6608AF0E0B}" srcOrd="2" destOrd="0" parTransId="{72938D86-7249-4297-AEE3-12ADA3F38E9D}" sibTransId="{2A6BBF47-4B17-42EF-B2F7-7731F3C44EC8}"/>
    <dgm:cxn modelId="{0F26BAD1-CA91-4D9D-8E58-005C6FD0FB2B}" srcId="{EB54C663-97FA-4BFD-8B26-423B903A032A}" destId="{F885249D-A52B-4652-BEAE-B8A046E2BB92}" srcOrd="0" destOrd="0" parTransId="{D55D4925-9ECB-4EA8-8186-7F4084C7E96B}" sibTransId="{76AFD7BA-D31D-4C86-9967-DD23FA110AC4}"/>
    <dgm:cxn modelId="{C5D818E8-1470-4CEB-9A12-C615AE5FE2D6}" type="presOf" srcId="{F9E9B84C-477A-4C21-9B3C-94E0F8C46DD0}" destId="{B411CFCD-CD9C-4AC1-8CAA-CBDF09034142}" srcOrd="0" destOrd="0" presId="urn:microsoft.com/office/officeart/2005/8/layout/process4"/>
    <dgm:cxn modelId="{D32C25F3-D0EF-458E-B203-76D8F7A3798F}" type="presOf" srcId="{A1450F21-7189-45FE-ADE2-4DE22003D976}" destId="{423CB15E-E461-4319-B9B8-AD359E68457E}" srcOrd="0" destOrd="0" presId="urn:microsoft.com/office/officeart/2005/8/layout/process4"/>
    <dgm:cxn modelId="{DAFF9DB8-33FB-45AF-8534-DC8BFE709E0B}" type="presParOf" srcId="{2D1B3E5B-7FCF-41B3-91CF-54387F513F95}" destId="{AD3572D9-1A1A-4F2A-8AE1-681508E02FF1}" srcOrd="0" destOrd="0" presId="urn:microsoft.com/office/officeart/2005/8/layout/process4"/>
    <dgm:cxn modelId="{98C7E1BD-7663-48CE-AA9F-EF3A0CEE7611}" type="presParOf" srcId="{AD3572D9-1A1A-4F2A-8AE1-681508E02FF1}" destId="{F23481AE-7B52-4708-A14E-FE3EAD2F7A37}" srcOrd="0" destOrd="0" presId="urn:microsoft.com/office/officeart/2005/8/layout/process4"/>
    <dgm:cxn modelId="{389950D6-3CD2-4364-9044-41A26841E0F5}" type="presParOf" srcId="{2D1B3E5B-7FCF-41B3-91CF-54387F513F95}" destId="{3341F46E-2A84-4926-99D7-36DF35CF03FF}" srcOrd="1" destOrd="0" presId="urn:microsoft.com/office/officeart/2005/8/layout/process4"/>
    <dgm:cxn modelId="{1261211B-DD5E-451C-A97B-208A606CAB0D}" type="presParOf" srcId="{2D1B3E5B-7FCF-41B3-91CF-54387F513F95}" destId="{D1EFCADA-3CAA-4C2F-937E-7BBF75D2C938}" srcOrd="2" destOrd="0" presId="urn:microsoft.com/office/officeart/2005/8/layout/process4"/>
    <dgm:cxn modelId="{BE70E8C6-CC4C-4F07-9104-7F40FB8F47EE}" type="presParOf" srcId="{D1EFCADA-3CAA-4C2F-937E-7BBF75D2C938}" destId="{423CB15E-E461-4319-B9B8-AD359E68457E}" srcOrd="0" destOrd="0" presId="urn:microsoft.com/office/officeart/2005/8/layout/process4"/>
    <dgm:cxn modelId="{AD926487-09C4-4C9E-8FBB-7424271F3F61}" type="presParOf" srcId="{D1EFCADA-3CAA-4C2F-937E-7BBF75D2C938}" destId="{8163698C-B954-40F8-BDC4-E49602DD8B79}" srcOrd="1" destOrd="0" presId="urn:microsoft.com/office/officeart/2005/8/layout/process4"/>
    <dgm:cxn modelId="{915A3082-325C-4BE7-9F3F-B871B94E1A81}" type="presParOf" srcId="{D1EFCADA-3CAA-4C2F-937E-7BBF75D2C938}" destId="{A10BBFC5-DC58-41B0-A8D9-BF57F5F6AB29}" srcOrd="2" destOrd="0" presId="urn:microsoft.com/office/officeart/2005/8/layout/process4"/>
    <dgm:cxn modelId="{CD22C569-67FE-47B2-88EC-7DF284349B50}" type="presParOf" srcId="{A10BBFC5-DC58-41B0-A8D9-BF57F5F6AB29}" destId="{DB6DFF44-A301-4D63-B38C-44E406A78781}" srcOrd="0" destOrd="0" presId="urn:microsoft.com/office/officeart/2005/8/layout/process4"/>
    <dgm:cxn modelId="{BE918917-9844-4424-B65E-7036BDC4021C}" type="presParOf" srcId="{A10BBFC5-DC58-41B0-A8D9-BF57F5F6AB29}" destId="{B411CFCD-CD9C-4AC1-8CAA-CBDF09034142}" srcOrd="1" destOrd="0" presId="urn:microsoft.com/office/officeart/2005/8/layout/process4"/>
    <dgm:cxn modelId="{AA302781-2561-43CC-9778-4278F7C1B4D4}" type="presParOf" srcId="{A10BBFC5-DC58-41B0-A8D9-BF57F5F6AB29}" destId="{2FEDE4C6-DE9F-4347-A720-06AEC0B0361F}" srcOrd="2" destOrd="0" presId="urn:microsoft.com/office/officeart/2005/8/layout/process4"/>
    <dgm:cxn modelId="{D515081C-9F7F-4E1D-9E78-870E084E1572}" type="presParOf" srcId="{2D1B3E5B-7FCF-41B3-91CF-54387F513F95}" destId="{EDDB440C-1D67-4D38-8017-6820D69B35A7}" srcOrd="3" destOrd="0" presId="urn:microsoft.com/office/officeart/2005/8/layout/process4"/>
    <dgm:cxn modelId="{C86B2DEA-5078-4065-9FFE-A28ED14176EE}" type="presParOf" srcId="{2D1B3E5B-7FCF-41B3-91CF-54387F513F95}" destId="{C2A11319-24D1-460E-B90C-7E120B6BEDEB}" srcOrd="4" destOrd="0" presId="urn:microsoft.com/office/officeart/2005/8/layout/process4"/>
    <dgm:cxn modelId="{B325A1F9-369C-497F-8155-FD54BB8AFBBD}" type="presParOf" srcId="{C2A11319-24D1-460E-B90C-7E120B6BEDEB}" destId="{0977E510-C5EC-4AB2-91D5-F57BEF9062D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481AE-7B52-4708-A14E-FE3EAD2F7A37}">
      <dsp:nvSpPr>
        <dsp:cNvPr id="0" name=""/>
        <dsp:cNvSpPr/>
      </dsp:nvSpPr>
      <dsp:spPr>
        <a:xfrm>
          <a:off x="0" y="3392396"/>
          <a:ext cx="4536622" cy="11131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P(w) can be interpreted as the probability that a randomly chosen email containing the word w is Spam. </a:t>
          </a:r>
        </a:p>
      </dsp:txBody>
      <dsp:txXfrm>
        <a:off x="0" y="3392396"/>
        <a:ext cx="4536622" cy="1113199"/>
      </dsp:txXfrm>
    </dsp:sp>
    <dsp:sp modelId="{8163698C-B954-40F8-BDC4-E49602DD8B79}">
      <dsp:nvSpPr>
        <dsp:cNvPr id="0" name=""/>
        <dsp:cNvSpPr/>
      </dsp:nvSpPr>
      <dsp:spPr>
        <a:xfrm rot="10800000">
          <a:off x="0" y="1696198"/>
          <a:ext cx="4536622" cy="171210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 each word in the mail, Calculate the following:</a:t>
          </a:r>
        </a:p>
      </dsp:txBody>
      <dsp:txXfrm rot="-10800000">
        <a:off x="0" y="1696198"/>
        <a:ext cx="4536622" cy="600947"/>
      </dsp:txXfrm>
    </dsp:sp>
    <dsp:sp modelId="{DB6DFF44-A301-4D63-B38C-44E406A78781}">
      <dsp:nvSpPr>
        <dsp:cNvPr id="0" name=""/>
        <dsp:cNvSpPr/>
      </dsp:nvSpPr>
      <dsp:spPr>
        <a:xfrm>
          <a:off x="2215" y="2297145"/>
          <a:ext cx="1510730" cy="5119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S(w)=(number of Spam emails containing the word)/(total 	number of Spam emails)</a:t>
          </a:r>
        </a:p>
      </dsp:txBody>
      <dsp:txXfrm>
        <a:off x="2215" y="2297145"/>
        <a:ext cx="1510730" cy="511917"/>
      </dsp:txXfrm>
    </dsp:sp>
    <dsp:sp modelId="{B411CFCD-CD9C-4AC1-8CAA-CBDF09034142}">
      <dsp:nvSpPr>
        <dsp:cNvPr id="0" name=""/>
        <dsp:cNvSpPr/>
      </dsp:nvSpPr>
      <dsp:spPr>
        <a:xfrm>
          <a:off x="1512945" y="2297145"/>
          <a:ext cx="1510730" cy="5119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H(w)=(number of Ham emails containing the word)/(total 	number of Ham emails)</a:t>
          </a:r>
        </a:p>
      </dsp:txBody>
      <dsp:txXfrm>
        <a:off x="1512945" y="2297145"/>
        <a:ext cx="1510730" cy="511917"/>
      </dsp:txXfrm>
    </dsp:sp>
    <dsp:sp modelId="{2FEDE4C6-DE9F-4347-A720-06AEC0B0361F}">
      <dsp:nvSpPr>
        <dsp:cNvPr id="0" name=""/>
        <dsp:cNvSpPr/>
      </dsp:nvSpPr>
      <dsp:spPr>
        <a:xfrm>
          <a:off x="3023676" y="2297145"/>
          <a:ext cx="1510730" cy="5119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P(w)=S(w)/(S(w)+H(w))</a:t>
          </a:r>
        </a:p>
      </dsp:txBody>
      <dsp:txXfrm>
        <a:off x="3023676" y="2297145"/>
        <a:ext cx="1510730" cy="511917"/>
      </dsp:txXfrm>
    </dsp:sp>
    <dsp:sp modelId="{0977E510-C5EC-4AB2-91D5-F57BEF9062DD}">
      <dsp:nvSpPr>
        <dsp:cNvPr id="0" name=""/>
        <dsp:cNvSpPr/>
      </dsp:nvSpPr>
      <dsp:spPr>
        <a:xfrm rot="10800000">
          <a:off x="0" y="0"/>
          <a:ext cx="4536622" cy="171210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Naïve Bayesian method is used for the learning process. Analyze a mail to calculate its probability of being a Spam using individual characteristic of words in the mail. </a:t>
          </a:r>
        </a:p>
      </dsp:txBody>
      <dsp:txXfrm rot="10800000">
        <a:off x="0" y="0"/>
        <a:ext cx="4536622" cy="11124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74472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2023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9555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Shape 4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25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000000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501210" y="175873"/>
            <a:ext cx="2451351" cy="2451351"/>
            <a:chOff x="6680825" y="2549350"/>
            <a:chExt cx="1539600" cy="1539600"/>
          </a:xfrm>
        </p:grpSpPr>
        <p:sp>
          <p:nvSpPr>
            <p:cNvPr id="12" name="Shape 1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Shape 14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Shape 15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16" name="Shape 16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Shape 17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Shape 18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Shape 19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Shape 20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  <a:effectLst>
            <a:outerShdw blurRad="85725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00000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Shape 23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24" name="Shape 24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Shape 2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Shape 26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Shape 28"/>
          <p:cNvSpPr txBox="1">
            <a:spLocks noGrp="1"/>
          </p:cNvSpPr>
          <p:nvPr>
            <p:ph type="ctrTitle"/>
          </p:nvPr>
        </p:nvSpPr>
        <p:spPr>
          <a:xfrm>
            <a:off x="2569800" y="2236800"/>
            <a:ext cx="4004400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ubTitle" idx="1"/>
          </p:nvPr>
        </p:nvSpPr>
        <p:spPr>
          <a:xfrm>
            <a:off x="2569800" y="3188701"/>
            <a:ext cx="400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grpSp>
        <p:nvGrpSpPr>
          <p:cNvPr id="30" name="Shape 30"/>
          <p:cNvGrpSpPr/>
          <p:nvPr/>
        </p:nvGrpSpPr>
        <p:grpSpPr>
          <a:xfrm>
            <a:off x="764825" y="439375"/>
            <a:ext cx="1924500" cy="1924500"/>
            <a:chOff x="6680825" y="2549350"/>
            <a:chExt cx="1539600" cy="1539600"/>
          </a:xfrm>
        </p:grpSpPr>
        <p:sp>
          <p:nvSpPr>
            <p:cNvPr id="31" name="Shape 31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Shape 3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Shape 33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Shape 70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71" name="Shape 71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Shape 7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Shape 73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Shape 74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Shape 7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22368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￮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body" idx="2"/>
          </p:nvPr>
        </p:nvSpPr>
        <p:spPr>
          <a:xfrm>
            <a:off x="3440857" y="1958050"/>
            <a:ext cx="22368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￮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Shape 80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ype B">
  <p:cSld name="BLANK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Shape 123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4" name="Shape 124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125" name="Shape 12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Shape 126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Shape 127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Shape 128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Shape 129"/>
          <p:cNvSpPr/>
          <p:nvPr/>
        </p:nvSpPr>
        <p:spPr>
          <a:xfrm>
            <a:off x="1794525" y="-40790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300" cy="26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aive_Bayes_classifier" TargetMode="External"/><Relationship Id="rId2" Type="http://schemas.openxmlformats.org/officeDocument/2006/relationships/hyperlink" Target="https://en.wikipedia.org/wiki/Naive_Bayes_spam_filtering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link.springer.com/chapter/10.1007/3-540-31662-0_38?no-access=true" TargetMode="External"/><Relationship Id="rId4" Type="http://schemas.openxmlformats.org/officeDocument/2006/relationships/hyperlink" Target="https://stackoverflow.com/questions/10059594/a-simple-explanation-of-naive-bayes-classification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ctrTitle"/>
          </p:nvPr>
        </p:nvSpPr>
        <p:spPr>
          <a:xfrm>
            <a:off x="3298546" y="782354"/>
            <a:ext cx="6199218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3600" dirty="0"/>
              <a:t>Spam mail Detection using Machine Learning </a:t>
            </a:r>
            <a:endParaRPr sz="3600" dirty="0"/>
          </a:p>
        </p:txBody>
      </p:sp>
      <p:grpSp>
        <p:nvGrpSpPr>
          <p:cNvPr id="142" name="Shape 142"/>
          <p:cNvGrpSpPr/>
          <p:nvPr/>
        </p:nvGrpSpPr>
        <p:grpSpPr>
          <a:xfrm>
            <a:off x="1311079" y="985525"/>
            <a:ext cx="832106" cy="832102"/>
            <a:chOff x="1923675" y="1633650"/>
            <a:chExt cx="436000" cy="435975"/>
          </a:xfrm>
        </p:grpSpPr>
        <p:sp>
          <p:nvSpPr>
            <p:cNvPr id="143" name="Shape 143"/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0" t="0" r="0" b="0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Shape 144"/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0" t="0" r="0" b="0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Shape 145"/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0" t="0" r="0" b="0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Shape 146"/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0" t="0" r="0" b="0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Shape 147"/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0" t="0" r="0" b="0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Shape 148"/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0" t="0" r="0" b="0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9800" y="606120"/>
            <a:ext cx="4004400" cy="956700"/>
          </a:xfrm>
        </p:spPr>
        <p:txBody>
          <a:bodyPr/>
          <a:lstStyle/>
          <a:p>
            <a:r>
              <a:rPr lang="en-US" sz="2000" dirty="0"/>
              <a:t>Presented By:</a:t>
            </a:r>
            <a:endParaRPr lang="en-GB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0822" y="1668054"/>
            <a:ext cx="6056986" cy="2869326"/>
          </a:xfrm>
        </p:spPr>
        <p:txBody>
          <a:bodyPr/>
          <a:lstStyle/>
          <a:p>
            <a:r>
              <a:rPr lang="en-US" sz="1800" b="1" u="sng" dirty="0">
                <a:latin typeface="Baskerville Old Face" panose="02020602080505020303" pitchFamily="18" charset="0"/>
              </a:rPr>
              <a:t>Name</a:t>
            </a:r>
            <a:r>
              <a:rPr lang="en-US" sz="1800" b="1" dirty="0">
                <a:latin typeface="Baskerville Old Face" panose="02020602080505020303" pitchFamily="18" charset="0"/>
              </a:rPr>
              <a:t>                                                 </a:t>
            </a:r>
            <a:r>
              <a:rPr lang="en-US" sz="1800" b="1" u="sng" dirty="0">
                <a:latin typeface="Baskerville Old Face" panose="02020602080505020303" pitchFamily="18" charset="0"/>
              </a:rPr>
              <a:t>ID</a:t>
            </a:r>
          </a:p>
          <a:p>
            <a:r>
              <a:rPr lang="en-US" sz="1800" b="1" dirty="0" err="1">
                <a:latin typeface="Baskerville Old Face" panose="02020602080505020303" pitchFamily="18" charset="0"/>
              </a:rPr>
              <a:t>T.Mourya</a:t>
            </a:r>
            <a:r>
              <a:rPr lang="en-US" sz="1800" b="1" dirty="0">
                <a:latin typeface="Baskerville Old Face" panose="02020602080505020303" pitchFamily="18" charset="0"/>
              </a:rPr>
              <a:t> </a:t>
            </a:r>
            <a:r>
              <a:rPr lang="en-US" sz="1800" b="1" dirty="0" err="1">
                <a:latin typeface="Baskerville Old Face" panose="02020602080505020303" pitchFamily="18" charset="0"/>
              </a:rPr>
              <a:t>sai</a:t>
            </a:r>
            <a:r>
              <a:rPr lang="en-US" sz="1800" b="1" dirty="0">
                <a:latin typeface="Baskerville Old Face" panose="02020602080505020303" pitchFamily="18" charset="0"/>
              </a:rPr>
              <a:t> </a:t>
            </a:r>
            <a:r>
              <a:rPr lang="en-US" sz="1800" b="1" dirty="0" err="1">
                <a:latin typeface="Baskerville Old Face" panose="02020602080505020303" pitchFamily="18" charset="0"/>
              </a:rPr>
              <a:t>nath</a:t>
            </a:r>
            <a:r>
              <a:rPr lang="en-US" sz="1800" b="1" dirty="0">
                <a:latin typeface="Baskerville Old Face" panose="02020602080505020303" pitchFamily="18" charset="0"/>
              </a:rPr>
              <a:t> </a:t>
            </a:r>
            <a:r>
              <a:rPr lang="en-US" sz="1800" b="1" dirty="0" err="1">
                <a:latin typeface="Baskerville Old Face" panose="02020602080505020303" pitchFamily="18" charset="0"/>
              </a:rPr>
              <a:t>reddy</a:t>
            </a:r>
            <a:r>
              <a:rPr lang="en-US" sz="1800" b="1" dirty="0">
                <a:latin typeface="Baskerville Old Face" panose="02020602080505020303" pitchFamily="18" charset="0"/>
              </a:rPr>
              <a:t>          2411021060194                           </a:t>
            </a:r>
          </a:p>
          <a:p>
            <a:r>
              <a:rPr lang="en-US" sz="1800" b="1" dirty="0" err="1">
                <a:latin typeface="Baskerville Old Face" panose="02020602080505020303" pitchFamily="18" charset="0"/>
              </a:rPr>
              <a:t>K.V.Sasidhar</a:t>
            </a:r>
            <a:r>
              <a:rPr lang="en-US" sz="1800" b="1" dirty="0">
                <a:latin typeface="Baskerville Old Face" panose="02020602080505020303" pitchFamily="18" charset="0"/>
              </a:rPr>
              <a:t> </a:t>
            </a:r>
            <a:r>
              <a:rPr lang="en-US" sz="1800" b="1" dirty="0" err="1">
                <a:latin typeface="Baskerville Old Face" panose="02020602080505020303" pitchFamily="18" charset="0"/>
              </a:rPr>
              <a:t>goud</a:t>
            </a:r>
            <a:r>
              <a:rPr lang="en-US" sz="1800" b="1" dirty="0">
                <a:latin typeface="Baskerville Old Face" panose="02020602080505020303" pitchFamily="18" charset="0"/>
              </a:rPr>
              <a:t>                  2411021060169</a:t>
            </a:r>
          </a:p>
          <a:p>
            <a:r>
              <a:rPr lang="en-US" sz="1800" b="1" dirty="0" err="1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A.Varun</a:t>
            </a:r>
            <a:r>
              <a:rPr lang="en-US" sz="1800" b="1" dirty="0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 Reddy                        2411021060190</a:t>
            </a:r>
            <a:endParaRPr lang="en-US" sz="1800" b="1" dirty="0">
              <a:latin typeface="Baskerville Old Face" panose="02020602080505020303" pitchFamily="18" charset="0"/>
              <a:cs typeface="Poppins" panose="020B0604020202020204" charset="0"/>
            </a:endParaRPr>
          </a:p>
          <a:p>
            <a:r>
              <a:rPr lang="en-US" sz="1800" b="1" dirty="0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 </a:t>
            </a:r>
            <a:r>
              <a:rPr lang="en-US" sz="1800" b="1" dirty="0" err="1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R.Jaswanth</a:t>
            </a:r>
            <a:r>
              <a:rPr lang="en-US" sz="1800" b="1" dirty="0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 Gowd                     2411021060081</a:t>
            </a:r>
            <a:endParaRPr lang="en-US" sz="1800" b="1" dirty="0">
              <a:latin typeface="Baskerville Old Face" panose="02020602080505020303" pitchFamily="18" charset="0"/>
            </a:endParaRPr>
          </a:p>
          <a:p>
            <a:pPr algn="l"/>
            <a:r>
              <a:rPr lang="en-US" sz="1800" b="1" dirty="0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                                    </a:t>
            </a:r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presented to:-</a:t>
            </a:r>
          </a:p>
          <a:p>
            <a:pPr algn="l"/>
            <a:r>
              <a:rPr lang="pt-BR" sz="2000" dirty="0"/>
              <a:t>    Dr R C Karpagalakshmi Professor / CSE </a:t>
            </a:r>
          </a:p>
          <a:p>
            <a:pPr algn="l"/>
            <a:r>
              <a:rPr lang="pt-BR" sz="2000" b="1" dirty="0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                                   on</a:t>
            </a:r>
          </a:p>
          <a:p>
            <a:pPr algn="l"/>
            <a:r>
              <a:rPr lang="pt-BR" sz="2000" b="1" dirty="0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                            08/04/2026</a:t>
            </a:r>
          </a:p>
          <a:p>
            <a:pPr algn="l"/>
            <a:endParaRPr lang="en-US" sz="2000" b="1" dirty="0">
              <a:solidFill>
                <a:schemeClr val="tx2">
                  <a:lumMod val="10000"/>
                </a:schemeClr>
              </a:solidFill>
              <a:latin typeface="Baskerville Old Face" panose="02020602080505020303" pitchFamily="18" charset="0"/>
              <a:cs typeface="Poppins" panose="020B0604020202020204" charset="0"/>
            </a:endParaRPr>
          </a:p>
          <a:p>
            <a:pPr algn="l"/>
            <a:endParaRPr lang="en-US" sz="2000" b="1" dirty="0">
              <a:solidFill>
                <a:schemeClr val="tx2">
                  <a:lumMod val="10000"/>
                </a:schemeClr>
              </a:solidFill>
              <a:latin typeface="Baskerville Old Face" panose="02020602080505020303" pitchFamily="18" charset="0"/>
              <a:cs typeface="Poppins" panose="020B0604020202020204" charset="0"/>
            </a:endParaRPr>
          </a:p>
          <a:p>
            <a:pPr algn="l"/>
            <a:endParaRPr lang="en-US" sz="2000" b="1" dirty="0">
              <a:solidFill>
                <a:schemeClr val="tx2">
                  <a:lumMod val="10000"/>
                </a:schemeClr>
              </a:solidFill>
              <a:latin typeface="Baskerville Old Face" panose="02020602080505020303" pitchFamily="18" charset="0"/>
              <a:cs typeface="Poppins" panose="020B0604020202020204" charset="0"/>
            </a:endParaRPr>
          </a:p>
          <a:p>
            <a:pPr algn="l"/>
            <a:r>
              <a:rPr lang="en-US" sz="1800" b="1" dirty="0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             </a:t>
            </a:r>
          </a:p>
          <a:p>
            <a:pPr algn="l"/>
            <a:r>
              <a:rPr lang="en-US" sz="1800" b="1" dirty="0">
                <a:solidFill>
                  <a:schemeClr val="tx2">
                    <a:lumMod val="10000"/>
                  </a:schemeClr>
                </a:solidFill>
                <a:latin typeface="Baskerville Old Face" panose="02020602080505020303" pitchFamily="18" charset="0"/>
                <a:cs typeface="Poppins" panose="020B0604020202020204" charset="0"/>
              </a:rPr>
              <a:t>             </a:t>
            </a:r>
            <a:endParaRPr lang="en-US" b="1" dirty="0">
              <a:latin typeface="Baskerville Old Face" panose="02020602080505020303" pitchFamily="18" charset="0"/>
            </a:endParaRPr>
          </a:p>
          <a:p>
            <a:pPr algn="l"/>
            <a:endParaRPr lang="en-US" b="1" dirty="0">
              <a:latin typeface="Baskerville Old Face" panose="02020602080505020303" pitchFamily="18" charset="0"/>
            </a:endParaRPr>
          </a:p>
          <a:p>
            <a:pPr algn="l"/>
            <a:endParaRPr lang="en-US" b="1" dirty="0">
              <a:latin typeface="Baskerville Old Face" panose="02020602080505020303" pitchFamily="18" charset="0"/>
            </a:endParaRPr>
          </a:p>
          <a:p>
            <a:pPr algn="l"/>
            <a:endParaRPr lang="en-US" b="1" dirty="0">
              <a:latin typeface="Baskerville Old Face" panose="02020602080505020303" pitchFamily="18" charset="0"/>
            </a:endParaRPr>
          </a:p>
          <a:p>
            <a:pPr algn="l"/>
            <a:endParaRPr lang="en-US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5773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E8CC1-9349-CFA4-31E8-F58013605F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470DAEC-1042-361F-1155-96BBCD516EC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525" y="467634"/>
            <a:ext cx="863781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 detection has been widely studied using Machine Learning techniques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algorithms: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Naive Bayes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Support Vector Machine (SVM)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Decision Trees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 research shows: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 performs well for text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High accuracy achieved using Bag of Words approach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 in existing systems: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Difficulty handling new spam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Context understanding is limited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738C4-3D71-6944-1E7C-9C9C77AD4CAE}"/>
              </a:ext>
            </a:extLst>
          </p:cNvPr>
          <p:cNvSpPr txBox="1"/>
          <p:nvPr/>
        </p:nvSpPr>
        <p:spPr>
          <a:xfrm>
            <a:off x="152525" y="2368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Literature Review:-</a:t>
            </a:r>
          </a:p>
        </p:txBody>
      </p:sp>
    </p:spTree>
    <p:extLst>
      <p:ext uri="{BB962C8B-B14F-4D97-AF65-F5344CB8AC3E}">
        <p14:creationId xmlns:p14="http://schemas.microsoft.com/office/powerpoint/2010/main" val="3104655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0118" y="478801"/>
            <a:ext cx="5220300" cy="683100"/>
          </a:xfrm>
        </p:spPr>
        <p:txBody>
          <a:bodyPr/>
          <a:lstStyle/>
          <a:p>
            <a:r>
              <a:rPr lang="en-GB" dirty="0"/>
              <a:t>Problem Definition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0" y="1570344"/>
            <a:ext cx="9144000" cy="316494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600" dirty="0">
                <a:latin typeface="Berlin Sans FB" panose="020E0602020502020306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1600" b="1" dirty="0"/>
              <a:t>University students receive a large number of messages daily</a:t>
            </a:r>
          </a:p>
          <a:p>
            <a:pPr marL="139700" indent="0">
              <a:buNone/>
            </a:pPr>
            <a:endParaRPr lang="en-US" sz="1600" b="1" dirty="0">
              <a:latin typeface="Berlin Sans FB" panose="020E0602020502020306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Many messages are spam, such as </a:t>
            </a:r>
            <a:r>
              <a:rPr lang="en-IN" sz="1600" b="1" dirty="0"/>
              <a:t>Fake internship offers, Fraudulent scholarship messages.</a:t>
            </a:r>
            <a:r>
              <a:rPr lang="en-US" sz="1600" b="1" dirty="0"/>
              <a:t> These spam messages can lead to </a:t>
            </a:r>
            <a:r>
              <a:rPr lang="en-IN" sz="1600" b="1" dirty="0"/>
              <a:t>Financial loss,</a:t>
            </a:r>
            <a:r>
              <a:rPr lang="en-US" sz="1600" b="1" dirty="0"/>
              <a:t> Data theft and privacy issues</a:t>
            </a:r>
          </a:p>
          <a:p>
            <a:pPr marL="139700" indent="0">
              <a:buNone/>
            </a:pP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Berlin Sans FB" panose="020E0602020502020306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Manual filtering is Time-consuming, Inefficient and Error-prone</a:t>
            </a:r>
          </a:p>
          <a:p>
            <a:pPr marL="139700" indent="0">
              <a:buNone/>
            </a:pPr>
            <a:endParaRPr lang="en-US" sz="1600" dirty="0">
              <a:latin typeface="Berlin Sans FB" panose="020E0602020502020306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Therefore, there is a need for an automated spam detection system designed for students to improve security and efficiency</a:t>
            </a:r>
            <a:endParaRPr lang="en-GB" sz="1600" b="1" dirty="0">
              <a:solidFill>
                <a:schemeClr val="tx1">
                  <a:lumMod val="95000"/>
                  <a:lumOff val="5000"/>
                </a:schemeClr>
              </a:solidFill>
              <a:latin typeface="Berlin Sans FB" panose="020E0602020502020306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592056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>
            <a:off x="702904" y="478041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Working of Spam Filter System</a:t>
            </a:r>
            <a:endParaRPr dirty="0"/>
          </a:p>
        </p:txBody>
      </p:sp>
      <p:sp>
        <p:nvSpPr>
          <p:cNvPr id="157" name="Shape 15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158" name="Shape 158"/>
          <p:cNvGrpSpPr/>
          <p:nvPr/>
        </p:nvGrpSpPr>
        <p:grpSpPr>
          <a:xfrm>
            <a:off x="7227977" y="2052723"/>
            <a:ext cx="1212302" cy="1038068"/>
            <a:chOff x="1934025" y="1001650"/>
            <a:chExt cx="415300" cy="355600"/>
          </a:xfrm>
        </p:grpSpPr>
        <p:sp>
          <p:nvSpPr>
            <p:cNvPr id="159" name="Shape 159"/>
            <p:cNvSpPr/>
            <p:nvPr/>
          </p:nvSpPr>
          <p:spPr>
            <a:xfrm>
              <a:off x="1934025" y="1303650"/>
              <a:ext cx="207650" cy="53600"/>
            </a:xfrm>
            <a:custGeom>
              <a:avLst/>
              <a:gdLst/>
              <a:ahLst/>
              <a:cxnLst/>
              <a:rect l="0" t="0" r="0" b="0"/>
              <a:pathLst>
                <a:path w="8306" h="2144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Shape 160"/>
            <p:cNvSpPr/>
            <p:nvPr/>
          </p:nvSpPr>
          <p:spPr>
            <a:xfrm>
              <a:off x="2141650" y="1303650"/>
              <a:ext cx="207675" cy="53600"/>
            </a:xfrm>
            <a:custGeom>
              <a:avLst/>
              <a:gdLst/>
              <a:ahLst/>
              <a:cxnLst/>
              <a:rect l="0" t="0" r="0" b="0"/>
              <a:pathLst>
                <a:path w="8307" h="2144" fill="none" extrusionOk="0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Shape 161"/>
            <p:cNvSpPr/>
            <p:nvPr/>
          </p:nvSpPr>
          <p:spPr>
            <a:xfrm>
              <a:off x="1934025" y="1001650"/>
              <a:ext cx="207650" cy="331250"/>
            </a:xfrm>
            <a:custGeom>
              <a:avLst/>
              <a:gdLst/>
              <a:ahLst/>
              <a:cxnLst/>
              <a:rect l="0" t="0" r="0" b="0"/>
              <a:pathLst>
                <a:path w="8306" h="13250" fill="none" extrusionOk="0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Shape 162"/>
            <p:cNvSpPr/>
            <p:nvPr/>
          </p:nvSpPr>
          <p:spPr>
            <a:xfrm>
              <a:off x="2141650" y="1001650"/>
              <a:ext cx="207675" cy="331250"/>
            </a:xfrm>
            <a:custGeom>
              <a:avLst/>
              <a:gdLst/>
              <a:ahLst/>
              <a:cxnLst/>
              <a:rect l="0" t="0" r="0" b="0"/>
              <a:pathLst>
                <a:path w="8307" h="13250" fill="none" extrusionOk="0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02904" y="1086774"/>
            <a:ext cx="5149259" cy="3851563"/>
            <a:chOff x="702904" y="980376"/>
            <a:chExt cx="5149259" cy="3851563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904" y="980376"/>
              <a:ext cx="5149259" cy="3851563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841253" y="3065052"/>
              <a:ext cx="1638605" cy="1564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Incoming mail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100431" y="4322047"/>
              <a:ext cx="1638605" cy="1564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         Spam mail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59066" y="2430009"/>
              <a:ext cx="601064" cy="1293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mail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8E02E3-682A-C7AC-4633-9E47E7D392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5AE36-36F3-E5E4-EE61-5BB4026FE752}"/>
              </a:ext>
            </a:extLst>
          </p:cNvPr>
          <p:cNvSpPr txBox="1"/>
          <p:nvPr/>
        </p:nvSpPr>
        <p:spPr>
          <a:xfrm>
            <a:off x="451632" y="1119722"/>
            <a:ext cx="853984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1.DATA COLLECTON</a:t>
            </a:r>
          </a:p>
          <a:p>
            <a:r>
              <a:rPr lang="en-IN" b="1" dirty="0"/>
              <a:t>2.</a:t>
            </a:r>
            <a:r>
              <a:rPr lang="en-IN" sz="1600" b="1" dirty="0"/>
              <a:t>Data Preprocessing</a:t>
            </a:r>
          </a:p>
          <a:p>
            <a:r>
              <a:rPr lang="en-IN" b="1" dirty="0"/>
              <a:t>3.</a:t>
            </a:r>
            <a:r>
              <a:rPr lang="en-IN" sz="1600" b="1" dirty="0"/>
              <a:t>Feature Extraction</a:t>
            </a:r>
          </a:p>
          <a:p>
            <a:r>
              <a:rPr lang="en-IN" b="1" dirty="0"/>
              <a:t>4. </a:t>
            </a:r>
            <a:r>
              <a:rPr lang="en-IN" sz="1600" b="1" dirty="0"/>
              <a:t>Model Training</a:t>
            </a:r>
          </a:p>
          <a:p>
            <a:r>
              <a:rPr lang="en-IN" b="1" dirty="0"/>
              <a:t>5. </a:t>
            </a:r>
            <a:r>
              <a:rPr lang="en-IN" sz="1600" b="1" dirty="0"/>
              <a:t>Testing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DE6ED-058B-35B4-8FD8-8CD36AD109A2}"/>
              </a:ext>
            </a:extLst>
          </p:cNvPr>
          <p:cNvSpPr txBox="1"/>
          <p:nvPr/>
        </p:nvSpPr>
        <p:spPr>
          <a:xfrm>
            <a:off x="449034" y="587828"/>
            <a:ext cx="3184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Methodology</a:t>
            </a:r>
          </a:p>
        </p:txBody>
      </p:sp>
      <p:pic>
        <p:nvPicPr>
          <p:cNvPr id="9" name="Picture 5" descr="Diagram">
            <a:extLst>
              <a:ext uri="{FF2B5EF4-FFF2-40B4-BE49-F238E27FC236}">
                <a16:creationId xmlns:a16="http://schemas.microsoft.com/office/drawing/2014/main" id="{881F372C-DD9F-3854-D6F4-2B6C391A5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62" y="2627827"/>
            <a:ext cx="7905659" cy="211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21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252" y="1953457"/>
            <a:ext cx="8423296" cy="683100"/>
          </a:xfrm>
        </p:spPr>
        <p:txBody>
          <a:bodyPr/>
          <a:lstStyle/>
          <a:p>
            <a:r>
              <a:rPr lang="en-GB" sz="2400" dirty="0"/>
              <a:t> Naïve Bayes </a:t>
            </a:r>
            <a:br>
              <a:rPr lang="en-GB" sz="2400" dirty="0"/>
            </a:br>
            <a:r>
              <a:rPr lang="en-GB" sz="2400" dirty="0"/>
              <a:t>  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9520CEB-C18E-DDEB-A7A8-FE4D8C9B37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9467109"/>
              </p:ext>
            </p:extLst>
          </p:nvPr>
        </p:nvGraphicFramePr>
        <p:xfrm>
          <a:off x="4039199" y="449036"/>
          <a:ext cx="4536622" cy="4505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7D32A4-8246-FAA5-5D83-45C6B55D42B0}"/>
              </a:ext>
            </a:extLst>
          </p:cNvPr>
          <p:cNvCxnSpPr/>
          <p:nvPr/>
        </p:nvCxnSpPr>
        <p:spPr>
          <a:xfrm>
            <a:off x="3208564" y="342900"/>
            <a:ext cx="0" cy="445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54554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1BE4E-641E-D052-FB36-6309993637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34D1C-D2C7-D989-FC9E-453774E1B7EE}"/>
              </a:ext>
            </a:extLst>
          </p:cNvPr>
          <p:cNvSpPr txBox="1"/>
          <p:nvPr/>
        </p:nvSpPr>
        <p:spPr>
          <a:xfrm>
            <a:off x="449036" y="85269"/>
            <a:ext cx="608239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✅ Modules </a:t>
            </a:r>
          </a:p>
          <a:p>
            <a:pPr>
              <a:buNone/>
            </a:pPr>
            <a:r>
              <a:rPr lang="en-US" b="1" dirty="0"/>
              <a:t>1. Data Collection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 SMS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spam and ham messages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2. Data Preprocessing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the text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 to lowercase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 punctuation and special characters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3. Feature Extraction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 text into numerical format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Bag of Words / </a:t>
            </a:r>
            <a:r>
              <a:rPr lang="en-US" dirty="0" err="1"/>
              <a:t>CountVectorizer</a:t>
            </a:r>
            <a:r>
              <a:rPr lang="en-US" dirty="0"/>
              <a:t>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4. Model Training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 the model using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Naive Bayes algorithm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5. Prediction (Classification)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Take new message as input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whether it is Spam or Ham</a:t>
            </a:r>
          </a:p>
        </p:txBody>
      </p:sp>
    </p:spTree>
    <p:extLst>
      <p:ext uri="{BB962C8B-B14F-4D97-AF65-F5344CB8AC3E}">
        <p14:creationId xmlns:p14="http://schemas.microsoft.com/office/powerpoint/2010/main" val="104729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417" y="275818"/>
            <a:ext cx="7348119" cy="683100"/>
          </a:xfrm>
        </p:spPr>
        <p:txBody>
          <a:bodyPr/>
          <a:lstStyle/>
          <a:p>
            <a:r>
              <a:rPr lang="en-US" sz="3200" dirty="0"/>
              <a:t>Performance Measure</a:t>
            </a:r>
            <a:endParaRPr lang="en-GB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63699" y="2648993"/>
                <a:ext cx="6190489" cy="5985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800" b="1" dirty="0">
                    <a:latin typeface="+mj-lt"/>
                  </a:rPr>
                  <a:t> Spams caught (SC)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False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negative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cases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Number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Spams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 </m:t>
                        </m:r>
                      </m:den>
                    </m:f>
                  </m:oMath>
                </a14:m>
                <a:endParaRPr lang="en-GB" sz="18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699" y="2648993"/>
                <a:ext cx="6190489" cy="59856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63699" y="3721633"/>
                <a:ext cx="6190489" cy="5539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800" b="1" dirty="0">
                    <a:latin typeface="+mj-lt"/>
                  </a:rPr>
                  <a:t> Blocked hams (BH)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False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i="0" dirty="0" smtClean="0">
                            <a:latin typeface="+mj-lt"/>
                          </a:rPr>
                          <m:t>Positive</m:t>
                        </m:r>
                        <m:r>
                          <m:rPr>
                            <m:nor/>
                          </m:rPr>
                          <a:rPr lang="en-GB" sz="1800" b="1" i="0" dirty="0" smtClean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cases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Number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dirty="0">
                            <a:latin typeface="+mj-lt"/>
                          </a:rPr>
                          <m:t>Hams</m:t>
                        </m:r>
                      </m:den>
                    </m:f>
                  </m:oMath>
                </a14:m>
                <a:endParaRPr lang="en-GB" sz="18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699" y="3721633"/>
                <a:ext cx="6190489" cy="553934"/>
              </a:xfrm>
              <a:prstGeom prst="rect">
                <a:avLst/>
              </a:prstGeom>
              <a:blipFill rotWithShape="0">
                <a:blip r:embed="rId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437511" y="1248225"/>
                <a:ext cx="6190489" cy="5557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800" b="1" dirty="0">
                    <a:latin typeface="+mj-lt"/>
                  </a:rPr>
                  <a:t>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1800" b="1" i="0" dirty="0" smtClean="0">
                            <a:latin typeface="+mj-lt"/>
                          </a:rPr>
                          <m:t>True</m:t>
                        </m:r>
                        <m:r>
                          <m:rPr>
                            <m:nor/>
                          </m:rPr>
                          <a:rPr lang="en-GB" sz="1800" b="1" i="0" dirty="0" smtClean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i="0" dirty="0" smtClean="0">
                            <a:latin typeface="+mj-lt"/>
                          </a:rPr>
                          <m:t>Positive</m:t>
                        </m:r>
                        <m:r>
                          <m:rPr>
                            <m:nor/>
                          </m:rPr>
                          <a:rPr lang="en-GB" sz="1800" b="1" i="0" dirty="0" smtClean="0">
                            <a:latin typeface="+mj-lt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GB" sz="1800" b="1" i="0" dirty="0" smtClean="0">
                            <a:latin typeface="+mj-lt"/>
                          </a:rPr>
                          <m:t>True</m:t>
                        </m:r>
                        <m:r>
                          <m:rPr>
                            <m:nor/>
                          </m:rPr>
                          <a:rPr lang="en-GB" sz="1800" b="1" i="0" dirty="0" smtClean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i="0" dirty="0" smtClean="0">
                            <a:latin typeface="+mj-lt"/>
                          </a:rPr>
                          <m:t>Negetive</m:t>
                        </m:r>
                        <m:r>
                          <m:rPr>
                            <m:nor/>
                          </m:rPr>
                          <a:rPr lang="en-GB" sz="1800" b="1" i="0" dirty="0" smtClean="0">
                            <a:latin typeface="+mj-lt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sz="1800" b="1" i="0" smtClean="0">
                            <a:latin typeface="+mj-lt"/>
                          </a:rPr>
                          <m:t>Total</m:t>
                        </m:r>
                        <m:r>
                          <m:rPr>
                            <m:nor/>
                          </m:rPr>
                          <a:rPr lang="en-GB" sz="1800" b="1" i="0" smtClean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i="0" smtClean="0">
                            <a:latin typeface="+mj-lt"/>
                          </a:rPr>
                          <m:t>Number</m:t>
                        </m:r>
                        <m:r>
                          <m:rPr>
                            <m:nor/>
                          </m:rPr>
                          <a:rPr lang="en-GB" sz="1800" b="1" i="0" smtClean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 i="0" smtClean="0">
                            <a:latin typeface="+mj-lt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GB" sz="1800" b="1" i="0" smtClean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>
                            <a:latin typeface="+mj-lt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GB" sz="1800" b="1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1800" b="1">
                            <a:latin typeface="+mj-lt"/>
                          </a:rPr>
                          <m:t>Data</m:t>
                        </m:r>
                      </m:den>
                    </m:f>
                  </m:oMath>
                </a14:m>
                <a:endParaRPr lang="en-GB" sz="18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511" y="1248225"/>
                <a:ext cx="6190489" cy="555730"/>
              </a:xfrm>
              <a:prstGeom prst="rect">
                <a:avLst/>
              </a:prstGeom>
              <a:blipFill rotWithShape="0">
                <a:blip r:embed="rId4"/>
                <a:stretch>
                  <a:fillRect l="-887" b="-43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12630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995" y="200590"/>
            <a:ext cx="5220300" cy="683100"/>
          </a:xfrm>
        </p:spPr>
        <p:txBody>
          <a:bodyPr/>
          <a:lstStyle/>
          <a:p>
            <a:r>
              <a:rPr lang="en-IN" dirty="0"/>
              <a:t>System Architecture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8623888" y="4644463"/>
            <a:ext cx="329917" cy="326213"/>
          </a:xfrm>
        </p:spPr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 dirty="0"/>
          </a:p>
        </p:txBody>
      </p:sp>
      <p:sp>
        <p:nvSpPr>
          <p:cNvPr id="25" name="Rectangle 24"/>
          <p:cNvSpPr/>
          <p:nvPr/>
        </p:nvSpPr>
        <p:spPr>
          <a:xfrm>
            <a:off x="392965" y="883690"/>
            <a:ext cx="8371799" cy="1867067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401876" y="2927183"/>
            <a:ext cx="8371799" cy="186706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4822517" y="2011476"/>
            <a:ext cx="1771555" cy="5516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erlin Sans FB" panose="020E0602020502020306" pitchFamily="34" charset="0"/>
              </a:rPr>
              <a:t>Algorithm</a:t>
            </a:r>
            <a:endParaRPr lang="en-GB" sz="16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822516" y="3352648"/>
            <a:ext cx="1771555" cy="5516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erlin Sans FB" panose="020E0602020502020306" pitchFamily="34" charset="0"/>
              </a:rPr>
              <a:t>Classifier Model</a:t>
            </a:r>
            <a:endParaRPr lang="en-GB" sz="16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737376" y="1111722"/>
            <a:ext cx="5838494" cy="551664"/>
            <a:chOff x="737376" y="1111722"/>
            <a:chExt cx="5838494" cy="551664"/>
          </a:xfrm>
        </p:grpSpPr>
        <p:sp>
          <p:nvSpPr>
            <p:cNvPr id="26" name="Rectangle 25"/>
            <p:cNvSpPr/>
            <p:nvPr/>
          </p:nvSpPr>
          <p:spPr>
            <a:xfrm>
              <a:off x="737376" y="1111723"/>
              <a:ext cx="1771555" cy="5516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SMS Text</a:t>
              </a:r>
              <a:endParaRPr lang="en-GB" sz="16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18576" y="1111722"/>
              <a:ext cx="1771555" cy="5516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Pre - Processing</a:t>
              </a:r>
              <a:endParaRPr lang="en-GB" sz="16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804315" y="1111723"/>
              <a:ext cx="1771555" cy="5516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Features Extraction</a:t>
              </a:r>
              <a:endParaRPr lang="en-GB" sz="16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cxnSp>
          <p:nvCxnSpPr>
            <p:cNvPr id="37" name="Straight Arrow Connector 36"/>
            <p:cNvCxnSpPr>
              <a:stCxn id="26" idx="3"/>
              <a:endCxn id="30" idx="1"/>
            </p:cNvCxnSpPr>
            <p:nvPr/>
          </p:nvCxnSpPr>
          <p:spPr>
            <a:xfrm flipV="1">
              <a:off x="2508931" y="1387554"/>
              <a:ext cx="20964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30" idx="3"/>
              <a:endCxn id="31" idx="1"/>
            </p:cNvCxnSpPr>
            <p:nvPr/>
          </p:nvCxnSpPr>
          <p:spPr>
            <a:xfrm>
              <a:off x="4490131" y="1387554"/>
              <a:ext cx="31418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660261" y="3352648"/>
            <a:ext cx="3876441" cy="551664"/>
            <a:chOff x="737376" y="1111722"/>
            <a:chExt cx="5838494" cy="551664"/>
          </a:xfrm>
        </p:grpSpPr>
        <p:sp>
          <p:nvSpPr>
            <p:cNvPr id="45" name="Rectangle 44"/>
            <p:cNvSpPr/>
            <p:nvPr/>
          </p:nvSpPr>
          <p:spPr>
            <a:xfrm>
              <a:off x="737376" y="1111723"/>
              <a:ext cx="1771555" cy="5516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New SMS Text</a:t>
              </a:r>
              <a:endParaRPr lang="en-GB" sz="16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718576" y="1111722"/>
              <a:ext cx="1771555" cy="5516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Pre - Processing</a:t>
              </a:r>
              <a:endParaRPr lang="en-GB" sz="16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804315" y="1111723"/>
              <a:ext cx="1771555" cy="5516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Features Extraction</a:t>
              </a:r>
              <a:endParaRPr lang="en-GB" sz="16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cxnSp>
          <p:nvCxnSpPr>
            <p:cNvPr id="48" name="Straight Arrow Connector 47"/>
            <p:cNvCxnSpPr>
              <a:stCxn id="45" idx="3"/>
              <a:endCxn id="46" idx="1"/>
            </p:cNvCxnSpPr>
            <p:nvPr/>
          </p:nvCxnSpPr>
          <p:spPr>
            <a:xfrm flipV="1">
              <a:off x="2508931" y="1387554"/>
              <a:ext cx="20964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46" idx="3"/>
              <a:endCxn id="47" idx="1"/>
            </p:cNvCxnSpPr>
            <p:nvPr/>
          </p:nvCxnSpPr>
          <p:spPr>
            <a:xfrm>
              <a:off x="4490131" y="1387554"/>
              <a:ext cx="31418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/>
          <p:cNvCxnSpPr>
            <a:stCxn id="47" idx="3"/>
            <a:endCxn id="33" idx="1"/>
          </p:cNvCxnSpPr>
          <p:nvPr/>
        </p:nvCxnSpPr>
        <p:spPr>
          <a:xfrm flipV="1">
            <a:off x="4536702" y="3628480"/>
            <a:ext cx="2858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31" idx="2"/>
            <a:endCxn id="32" idx="0"/>
          </p:cNvCxnSpPr>
          <p:nvPr/>
        </p:nvCxnSpPr>
        <p:spPr>
          <a:xfrm>
            <a:off x="5690093" y="1663386"/>
            <a:ext cx="18202" cy="348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32" idx="2"/>
            <a:endCxn id="33" idx="0"/>
          </p:cNvCxnSpPr>
          <p:nvPr/>
        </p:nvCxnSpPr>
        <p:spPr>
          <a:xfrm flipH="1">
            <a:off x="5708294" y="2563139"/>
            <a:ext cx="1" cy="78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33" idx="3"/>
          </p:cNvCxnSpPr>
          <p:nvPr/>
        </p:nvCxnSpPr>
        <p:spPr>
          <a:xfrm>
            <a:off x="6594071" y="3628480"/>
            <a:ext cx="2677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6922779" y="3143722"/>
            <a:ext cx="1535526" cy="12149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erlin Sans FB" panose="020E0602020502020306" pitchFamily="34" charset="0"/>
              </a:rPr>
              <a:t>Classification of new Text</a:t>
            </a:r>
            <a:endParaRPr lang="en-GB" sz="16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42800" y="2221890"/>
            <a:ext cx="88517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Berlin Sans FB" panose="020E0602020502020306" pitchFamily="34" charset="0"/>
              </a:rPr>
              <a:t>Training</a:t>
            </a:r>
            <a:endParaRPr lang="en-GB" sz="1600" dirty="0">
              <a:latin typeface="Berlin Sans FB" panose="020E0602020502020306" pitchFamily="34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42800" y="4204761"/>
            <a:ext cx="7954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Berlin Sans FB" panose="020E0602020502020306" pitchFamily="34" charset="0"/>
              </a:rPr>
              <a:t>Tasting</a:t>
            </a:r>
            <a:endParaRPr lang="en-GB" sz="16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76035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EC192D-D632-9674-4393-792F058657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C0BDD1-D495-AA55-0BFD-CE5528249095}"/>
              </a:ext>
            </a:extLst>
          </p:cNvPr>
          <p:cNvSpPr txBox="1"/>
          <p:nvPr/>
        </p:nvSpPr>
        <p:spPr>
          <a:xfrm>
            <a:off x="416379" y="344482"/>
            <a:ext cx="56088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Results and Discussions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Accuracy achieved: ~97–99%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performs well on test data 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Fast processing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High efficiency</a:t>
            </a:r>
          </a:p>
          <a:p>
            <a:pPr marL="457200" lvl="1"/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Observations: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Works best with clean dataset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Struggles with modified spam words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31BB25-66F0-5521-2F1D-3FE8C6BF7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411056"/>
              </p:ext>
            </p:extLst>
          </p:nvPr>
        </p:nvGraphicFramePr>
        <p:xfrm>
          <a:off x="979713" y="3391470"/>
          <a:ext cx="5167252" cy="1828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83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955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latin typeface="Bell MT" panose="02020503060305020303" pitchFamily="18" charset="0"/>
                        </a:rPr>
                        <a:t>Overall</a:t>
                      </a:r>
                      <a:r>
                        <a:rPr lang="en-GB" sz="2400" b="0" baseline="0" dirty="0">
                          <a:latin typeface="Bell MT" panose="02020503060305020303" pitchFamily="18" charset="0"/>
                        </a:rPr>
                        <a:t> </a:t>
                      </a:r>
                      <a:r>
                        <a:rPr lang="en-GB" sz="2400" b="0" dirty="0">
                          <a:latin typeface="Bell MT" panose="02020503060305020303" pitchFamily="18" charset="0"/>
                        </a:rPr>
                        <a:t>Error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latin typeface="Bell MT" panose="02020503060305020303" pitchFamily="18" charset="0"/>
                        </a:rPr>
                        <a:t>1.12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55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latin typeface="Bell MT" panose="02020503060305020303" pitchFamily="18" charset="0"/>
                        </a:rPr>
                        <a:t>Accuracy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latin typeface="Bell MT" panose="02020503060305020303" pitchFamily="18" charset="0"/>
                        </a:rPr>
                        <a:t>98.88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55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latin typeface="Bell MT" panose="02020503060305020303" pitchFamily="18" charset="0"/>
                        </a:rPr>
                        <a:t>SC</a:t>
                      </a:r>
                      <a:r>
                        <a:rPr lang="en-GB" sz="2400" b="0" baseline="0" dirty="0">
                          <a:latin typeface="Bell MT" panose="02020503060305020303" pitchFamily="18" charset="0"/>
                        </a:rPr>
                        <a:t> %</a:t>
                      </a:r>
                      <a:endParaRPr lang="en-GB" sz="2400" b="0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latin typeface="Bell MT" panose="02020503060305020303" pitchFamily="18" charset="0"/>
                        </a:rPr>
                        <a:t>94.5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55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latin typeface="Bell MT" panose="02020503060305020303" pitchFamily="18" charset="0"/>
                        </a:rPr>
                        <a:t>BH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latin typeface="Bell MT" panose="02020503060305020303" pitchFamily="18" charset="0"/>
                        </a:rPr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910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814D3F-E28B-1645-16E6-408EDCA2A9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17CB0F-784C-8678-8F00-7885C14E8C3C}"/>
              </a:ext>
            </a:extLst>
          </p:cNvPr>
          <p:cNvSpPr txBox="1"/>
          <p:nvPr/>
        </p:nvSpPr>
        <p:spPr>
          <a:xfrm>
            <a:off x="359228" y="514351"/>
            <a:ext cx="59436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Conclusion: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Successfully built spam detection system </a:t>
            </a:r>
          </a:p>
          <a:p>
            <a:r>
              <a:rPr lang="en-US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High accuracy achieved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Helps improve user security </a:t>
            </a:r>
          </a:p>
          <a:p>
            <a:endParaRPr lang="en-US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Future Enhancements: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Improve detection of modified spam words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 multi-category classification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Real-time deployment</a:t>
            </a:r>
          </a:p>
        </p:txBody>
      </p:sp>
    </p:spTree>
    <p:extLst>
      <p:ext uri="{BB962C8B-B14F-4D97-AF65-F5344CB8AC3E}">
        <p14:creationId xmlns:p14="http://schemas.microsoft.com/office/powerpoint/2010/main" val="240802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238939-B2B8-D486-5EE3-DD445569AB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542D83-5449-44AD-E4F6-27DD42FA03B2}"/>
              </a:ext>
            </a:extLst>
          </p:cNvPr>
          <p:cNvSpPr txBox="1">
            <a:spLocks/>
          </p:cNvSpPr>
          <p:nvPr/>
        </p:nvSpPr>
        <p:spPr>
          <a:xfrm>
            <a:off x="544075" y="672193"/>
            <a:ext cx="8229600" cy="990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/>
              <a:t>References: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00E33C-6FC6-F6B9-6E1E-2FA27CDC09F4}"/>
              </a:ext>
            </a:extLst>
          </p:cNvPr>
          <p:cNvSpPr>
            <a:spLocks noGrp="1"/>
          </p:cNvSpPr>
          <p:nvPr/>
        </p:nvSpPr>
        <p:spPr>
          <a:xfrm>
            <a:off x="461250" y="1263650"/>
            <a:ext cx="8825659" cy="34163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/>
              </a:rPr>
              <a:t>https://en.wikipedia.org/wiki/Naive_Bayes_spam_filtering</a:t>
            </a:r>
            <a:endParaRPr lang="en-US" dirty="0"/>
          </a:p>
          <a:p>
            <a:r>
              <a:rPr lang="en-US" dirty="0">
                <a:hlinkClick r:id="rId3"/>
              </a:rPr>
              <a:t>https://en.wikipedia.org/wiki/Naive_Bayes_classifier</a:t>
            </a:r>
          </a:p>
          <a:p>
            <a:r>
              <a:rPr lang="en-US" dirty="0">
                <a:hlinkClick r:id="rId4"/>
              </a:rPr>
              <a:t>https://stackoverflow.com/questions/10059594/a-simple-explanation-of-naive-bayes-classification</a:t>
            </a:r>
          </a:p>
          <a:p>
            <a:r>
              <a:rPr lang="en-US" dirty="0">
                <a:hlinkClick r:id="rId5"/>
              </a:rPr>
              <a:t>https://link.springer.com/chapter/10.1007/3-540-31662-0_38?no-access=true</a:t>
            </a:r>
          </a:p>
          <a:p>
            <a:r>
              <a:rPr lang="en-US" dirty="0"/>
              <a:t>https://www.youtube.com/watch?v=EGKeC2S44Rs</a:t>
            </a:r>
          </a:p>
        </p:txBody>
      </p:sp>
    </p:spTree>
    <p:extLst>
      <p:ext uri="{BB962C8B-B14F-4D97-AF65-F5344CB8AC3E}">
        <p14:creationId xmlns:p14="http://schemas.microsoft.com/office/powerpoint/2010/main" val="2553215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4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421" name="Shape 421"/>
          <p:cNvSpPr txBox="1">
            <a:spLocks noGrp="1"/>
          </p:cNvSpPr>
          <p:nvPr>
            <p:ph type="ctrTitle" idx="4294967295"/>
          </p:nvPr>
        </p:nvSpPr>
        <p:spPr>
          <a:xfrm>
            <a:off x="4535488" y="881063"/>
            <a:ext cx="4608512" cy="11588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Thanks!</a:t>
            </a:r>
            <a:endParaRPr sz="8000" dirty="0"/>
          </a:p>
        </p:txBody>
      </p:sp>
      <p:sp>
        <p:nvSpPr>
          <p:cNvPr id="422" name="Shape 422"/>
          <p:cNvSpPr txBox="1">
            <a:spLocks noGrp="1"/>
          </p:cNvSpPr>
          <p:nvPr>
            <p:ph type="subTitle" idx="4294967295"/>
          </p:nvPr>
        </p:nvSpPr>
        <p:spPr>
          <a:xfrm>
            <a:off x="2938463" y="1965325"/>
            <a:ext cx="6205537" cy="2611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 sz="1800" dirty="0"/>
          </a:p>
          <a:p>
            <a: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￮"/>
            </a:pPr>
            <a:endParaRPr sz="1800" dirty="0"/>
          </a:p>
        </p:txBody>
      </p:sp>
      <p:grpSp>
        <p:nvGrpSpPr>
          <p:cNvPr id="423" name="Shape 423"/>
          <p:cNvGrpSpPr/>
          <p:nvPr/>
        </p:nvGrpSpPr>
        <p:grpSpPr>
          <a:xfrm>
            <a:off x="1812552" y="1460659"/>
            <a:ext cx="345971" cy="325505"/>
            <a:chOff x="5972700" y="2330200"/>
            <a:chExt cx="411625" cy="387275"/>
          </a:xfrm>
        </p:grpSpPr>
        <p:sp>
          <p:nvSpPr>
            <p:cNvPr id="424" name="Shape 424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Shape 425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ymbel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</TotalTime>
  <Words>641</Words>
  <Application>Microsoft Office PowerPoint</Application>
  <PresentationFormat>On-screen Show (16:9)</PresentationFormat>
  <Paragraphs>148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Wingdings</vt:lpstr>
      <vt:lpstr>Bell MT</vt:lpstr>
      <vt:lpstr>Arial</vt:lpstr>
      <vt:lpstr>Poppins Light</vt:lpstr>
      <vt:lpstr>Poppins</vt:lpstr>
      <vt:lpstr>Baskerville Old Face</vt:lpstr>
      <vt:lpstr>Berlin Sans FB</vt:lpstr>
      <vt:lpstr>Cambria Math</vt:lpstr>
      <vt:lpstr>Cymbeline template</vt:lpstr>
      <vt:lpstr>Spam mail Detection using Machine Learning </vt:lpstr>
      <vt:lpstr>Presented By:</vt:lpstr>
      <vt:lpstr>PowerPoint Presentation</vt:lpstr>
      <vt:lpstr>Problem Definition</vt:lpstr>
      <vt:lpstr>Working of Spam Filter System</vt:lpstr>
      <vt:lpstr>PowerPoint Presentation</vt:lpstr>
      <vt:lpstr> Naïve Bayes     Algorithm</vt:lpstr>
      <vt:lpstr>PowerPoint Presentation</vt:lpstr>
      <vt:lpstr>Performance Measure</vt:lpstr>
      <vt:lpstr>System Architecture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SMS Spam Detection using Machine Learning Approach</dc:title>
  <dc:creator>itzmo</dc:creator>
  <cp:lastModifiedBy>itzmourya@gmail.com</cp:lastModifiedBy>
  <cp:revision>49</cp:revision>
  <dcterms:modified xsi:type="dcterms:W3CDTF">2026-04-13T11:51:21Z</dcterms:modified>
</cp:coreProperties>
</file>